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7" r:id="rId13"/>
    <p:sldId id="271" r:id="rId14"/>
    <p:sldId id="268" r:id="rId15"/>
    <p:sldId id="269" r:id="rId16"/>
    <p:sldId id="270" r:id="rId17"/>
    <p:sldId id="274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E4E15-869A-43F1-991E-BAA3F76F7299}" v="2" dt="2025-12-15T04:35:34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90" d="100"/>
          <a:sy n="90" d="100"/>
        </p:scale>
        <p:origin x="-244" y="-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Najera" userId="04fbcd51e4148ba7" providerId="LiveId" clId="{B523F682-49D2-4DAF-8C4C-02FFB5BED2FC}"/>
    <pc:docChg chg="addSld modSld">
      <pc:chgData name="Hector Najera" userId="04fbcd51e4148ba7" providerId="LiveId" clId="{B523F682-49D2-4DAF-8C4C-02FFB5BED2FC}" dt="2025-12-15T04:35:34.643" v="14" actId="20577"/>
      <pc:docMkLst>
        <pc:docMk/>
      </pc:docMkLst>
      <pc:sldChg chg="modSp new mod">
        <pc:chgData name="Hector Najera" userId="04fbcd51e4148ba7" providerId="LiveId" clId="{B523F682-49D2-4DAF-8C4C-02FFB5BED2FC}" dt="2025-12-15T04:35:34.643" v="14" actId="20577"/>
        <pc:sldMkLst>
          <pc:docMk/>
          <pc:sldMk cId="2251069489" sldId="272"/>
        </pc:sldMkLst>
        <pc:spChg chg="mod">
          <ac:chgData name="Hector Najera" userId="04fbcd51e4148ba7" providerId="LiveId" clId="{B523F682-49D2-4DAF-8C4C-02FFB5BED2FC}" dt="2025-12-15T04:35:32.201" v="12" actId="20577"/>
          <ac:spMkLst>
            <pc:docMk/>
            <pc:sldMk cId="2251069489" sldId="272"/>
            <ac:spMk id="2" creationId="{94675830-33A0-97F3-2778-58A6143C18B0}"/>
          </ac:spMkLst>
        </pc:spChg>
        <pc:spChg chg="mod">
          <ac:chgData name="Hector Najera" userId="04fbcd51e4148ba7" providerId="LiveId" clId="{B523F682-49D2-4DAF-8C4C-02FFB5BED2FC}" dt="2025-12-15T04:35:34.643" v="14" actId="20577"/>
          <ac:spMkLst>
            <pc:docMk/>
            <pc:sldMk cId="2251069489" sldId="272"/>
            <ac:spMk id="3" creationId="{5A3B3BC6-9208-EE4A-558D-41BF883CDD6E}"/>
          </ac:spMkLst>
        </pc:spChg>
      </pc:sldChg>
    </pc:docChg>
  </pc:docChgLst>
  <pc:docChgLst>
    <pc:chgData name="Hector Najera" userId="04fbcd51e4148ba7" providerId="LiveId" clId="{2313F400-ED09-429B-95E7-A8C8ECBBD267}"/>
    <pc:docChg chg="undo custSel addSld delSld modSld sldOrd">
      <pc:chgData name="Hector Najera" userId="04fbcd51e4148ba7" providerId="LiveId" clId="{2313F400-ED09-429B-95E7-A8C8ECBBD267}" dt="2025-12-14T01:49:47.603" v="220" actId="2696"/>
      <pc:docMkLst>
        <pc:docMk/>
      </pc:docMkLst>
      <pc:sldChg chg="del">
        <pc:chgData name="Hector Najera" userId="04fbcd51e4148ba7" providerId="LiveId" clId="{2313F400-ED09-429B-95E7-A8C8ECBBD267}" dt="2025-12-14T01:49:47.603" v="220" actId="2696"/>
        <pc:sldMkLst>
          <pc:docMk/>
          <pc:sldMk cId="3667988342" sldId="264"/>
        </pc:sldMkLst>
      </pc:sldChg>
      <pc:sldChg chg="modSp mod">
        <pc:chgData name="Hector Najera" userId="04fbcd51e4148ba7" providerId="LiveId" clId="{2313F400-ED09-429B-95E7-A8C8ECBBD267}" dt="2025-12-13T03:13:12.656" v="3" actId="14100"/>
        <pc:sldMkLst>
          <pc:docMk/>
          <pc:sldMk cId="3294806413" sldId="265"/>
        </pc:sldMkLst>
        <pc:picChg chg="mod">
          <ac:chgData name="Hector Najera" userId="04fbcd51e4148ba7" providerId="LiveId" clId="{2313F400-ED09-429B-95E7-A8C8ECBBD267}" dt="2025-12-13T03:13:12.656" v="3" actId="14100"/>
          <ac:picMkLst>
            <pc:docMk/>
            <pc:sldMk cId="3294806413" sldId="265"/>
            <ac:picMk id="15" creationId="{917F6904-349E-B1B6-250A-E594BBB55D3A}"/>
          </ac:picMkLst>
        </pc:picChg>
      </pc:sldChg>
      <pc:sldChg chg="modSp mod ord">
        <pc:chgData name="Hector Najera" userId="04fbcd51e4148ba7" providerId="LiveId" clId="{2313F400-ED09-429B-95E7-A8C8ECBBD267}" dt="2025-12-13T03:15:45.275" v="143"/>
        <pc:sldMkLst>
          <pc:docMk/>
          <pc:sldMk cId="933093349" sldId="267"/>
        </pc:sldMkLst>
        <pc:picChg chg="mod">
          <ac:chgData name="Hector Najera" userId="04fbcd51e4148ba7" providerId="LiveId" clId="{2313F400-ED09-429B-95E7-A8C8ECBBD267}" dt="2025-12-13T03:13:25.592" v="5" actId="1076"/>
          <ac:picMkLst>
            <pc:docMk/>
            <pc:sldMk cId="933093349" sldId="267"/>
            <ac:picMk id="3" creationId="{90D5E0AE-C3EA-0BEE-7293-76B8221D1E87}"/>
          </ac:picMkLst>
        </pc:picChg>
      </pc:sldChg>
      <pc:sldChg chg="modSp mod">
        <pc:chgData name="Hector Najera" userId="04fbcd51e4148ba7" providerId="LiveId" clId="{2313F400-ED09-429B-95E7-A8C8ECBBD267}" dt="2025-12-13T03:16:21.128" v="219" actId="114"/>
        <pc:sldMkLst>
          <pc:docMk/>
          <pc:sldMk cId="3690717396" sldId="268"/>
        </pc:sldMkLst>
        <pc:spChg chg="mod">
          <ac:chgData name="Hector Najera" userId="04fbcd51e4148ba7" providerId="LiveId" clId="{2313F400-ED09-429B-95E7-A8C8ECBBD267}" dt="2025-12-13T03:16:21.128" v="219" actId="114"/>
          <ac:spMkLst>
            <pc:docMk/>
            <pc:sldMk cId="3690717396" sldId="268"/>
            <ac:spMk id="3" creationId="{3EA6F7E1-BFF9-DC5A-3256-7B7CEFDB7334}"/>
          </ac:spMkLst>
        </pc:spChg>
      </pc:sldChg>
      <pc:sldChg chg="addSp delSp modSp new mod">
        <pc:chgData name="Hector Najera" userId="04fbcd51e4148ba7" providerId="LiveId" clId="{2313F400-ED09-429B-95E7-A8C8ECBBD267}" dt="2025-12-13T03:15:37.027" v="141" actId="20577"/>
        <pc:sldMkLst>
          <pc:docMk/>
          <pc:sldMk cId="1176629204" sldId="271"/>
        </pc:sldMkLst>
        <pc:spChg chg="mod">
          <ac:chgData name="Hector Najera" userId="04fbcd51e4148ba7" providerId="LiveId" clId="{2313F400-ED09-429B-95E7-A8C8ECBBD267}" dt="2025-12-13T03:14:55.158" v="18" actId="14100"/>
          <ac:spMkLst>
            <pc:docMk/>
            <pc:sldMk cId="1176629204" sldId="271"/>
            <ac:spMk id="2" creationId="{71370BB8-7BAC-846C-F332-33EC0DCE1CA5}"/>
          </ac:spMkLst>
        </pc:spChg>
        <pc:spChg chg="add mod">
          <ac:chgData name="Hector Najera" userId="04fbcd51e4148ba7" providerId="LiveId" clId="{2313F400-ED09-429B-95E7-A8C8ECBBD267}" dt="2025-12-13T03:15:37.027" v="141" actId="20577"/>
          <ac:spMkLst>
            <pc:docMk/>
            <pc:sldMk cId="1176629204" sldId="271"/>
            <ac:spMk id="4" creationId="{00D46615-C754-36A6-7FD4-F2A4905E06B2}"/>
          </ac:spMkLst>
        </pc:spChg>
        <pc:picChg chg="add mod">
          <ac:chgData name="Hector Najera" userId="04fbcd51e4148ba7" providerId="LiveId" clId="{2313F400-ED09-429B-95E7-A8C8ECBBD267}" dt="2025-12-13T03:14:36.372" v="17" actId="1076"/>
          <ac:picMkLst>
            <pc:docMk/>
            <pc:sldMk cId="1176629204" sldId="271"/>
            <ac:picMk id="6146" creationId="{52E5F841-F0FC-4F71-371B-A9E1A17453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B38B-99A5-63F4-73D2-EF06E13E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A1338-D3F3-8D85-433E-68643B9BB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28A7E-60B5-BF10-393F-AFD28FAE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FB57-CD8F-F662-0907-6685CD0C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F87BB-A1FD-5059-AF0B-DD49F77D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19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F46D-DC5F-0AAE-C5F2-B6054C98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D024C-AE8E-55DD-9E92-6ABC0D6A9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CB744-1CC5-7BBC-BDA7-DF86D5058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C38BF-5956-B416-98AF-3974CDFA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D0DD8-88A5-4A93-9A03-FB544183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15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F654-2A34-3E97-51E2-7F1B99EE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BC36B-C2ED-F332-7745-6834CDDE4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17312-C9CD-BE00-7F62-B79118CC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AF856-CD1B-6D51-41E0-8B98447D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DDA0-415B-C8FF-361D-851A55A0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3FFC-3DED-9634-C9AB-5F020726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F574-256B-7615-D23E-671F7DC32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574F0-24C5-FA73-E322-28B555ABF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02A21-F5F3-3A1B-CE09-9912E6CC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62F4C-4176-59FE-C7C5-EB46776B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63823-D0C8-C47B-D024-4FEB6BA6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96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F64F-B964-B659-E4D3-7FEDDEC0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4DC22-AA99-E757-1157-859C9FE69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84CE9-BC8C-EF77-CED7-9E6003A13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F7C47-DCAB-30A0-55A7-EFA13B9AC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C00BC-DABA-4AA3-879B-33E1049B5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20242-C1CE-9423-4482-D6170FE8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D6875-B7C2-9C24-ED7F-BEB5BBB45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E6B39-B3A5-4264-7D6B-40479EA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66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F1B8-C4A1-2216-1570-AF208A6B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42214-2CEF-0E4A-6656-71046490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0C2E6-AB20-0DF7-AB4E-D8631B00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F8F5A-E7FD-7B49-ADC2-83D166AA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17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30927-1EBC-E7E1-84A7-2FC602B0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E29E4-EBD0-DD62-C24E-B186B379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10058-9488-EA96-BF66-1EB57DA1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11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1A40-C4C6-2B05-3781-7ED7D850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A328-ED0C-9FE8-2D03-29CE2F0E4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B6104-5AF4-53EF-8ADE-5705BFE19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1711B-E772-F0BB-D7A5-894E1124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66198-B492-1DC6-44BA-F5233ABCA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6429C-93C5-5656-18E1-A34AEF7D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01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940B-95BD-4A1E-BDBC-9AF6C73F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8A21C-665D-8B1B-600E-FA3D02B2A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DE0B1-6474-1B31-EC5B-7D623B5B1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5C701-D239-2418-D39C-24D42D9E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87719-065E-2C66-0627-B95CB7BB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8DDDE-E875-4488-98C5-7769C78D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07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7A73-37CE-B81F-9CFF-BE49A2D5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C859F-3493-CA0A-F0FF-8F2EA9ACD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49D4-7162-018E-09B7-05801B7B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51EB0-133E-06BB-9517-DFF23754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42482-F22A-31E4-E83D-F5430436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0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B9DDC-C694-708A-48BB-CD026C16F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8E676-D1CC-8A6F-1F2A-3859E5795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1A23-2FA7-8A25-32FE-EB770E48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AE452-BB2E-BC47-4A48-9FCAC288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D1353-7647-BC79-3980-E2E86225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78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8605F-32C8-1BEC-D375-88CC780C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4CB88-795B-CE56-82E2-2B7495CC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3CF99-E206-68D4-350A-7D854B35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53B95-220A-4BB6-B59A-ECAB3C621C29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BDCD4-4B3A-FF9E-7EEA-71AD578C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E500-8A15-2084-EF63-FA63B8CFD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18305-E4DC-4A0F-810D-99621E6B33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111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ctornajera83/KNSOSurveyData2025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06ED-99F6-A090-B9D5-56D0CB1CE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Session 1.1: </a:t>
            </a:r>
            <a:br>
              <a:rPr lang="en-GB" dirty="0"/>
            </a:br>
            <a:r>
              <a:rPr lang="en-GB" dirty="0"/>
              <a:t>Welcome and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B8B55-3F35-2A9D-8B3F-2B0019B6C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3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D50B-DBD1-7A34-E139-B4DE7CCC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3" y="365125"/>
            <a:ext cx="11311846" cy="1325563"/>
          </a:xfrm>
        </p:spPr>
        <p:txBody>
          <a:bodyPr>
            <a:noAutofit/>
          </a:bodyPr>
          <a:lstStyle/>
          <a:p>
            <a:r>
              <a:rPr lang="en-US" sz="6600" b="1" dirty="0"/>
              <a:t>Survey data and indirect estimation</a:t>
            </a:r>
            <a:endParaRPr lang="en-GB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F424E-D99B-310A-D343-4DEFE44E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3" y="2141537"/>
            <a:ext cx="11311845" cy="4351338"/>
          </a:xfrm>
        </p:spPr>
        <p:txBody>
          <a:bodyPr>
            <a:normAutofit/>
          </a:bodyPr>
          <a:lstStyle/>
          <a:p>
            <a:r>
              <a:rPr lang="en-GB" sz="4800" dirty="0"/>
              <a:t>Why this type of course?</a:t>
            </a:r>
          </a:p>
          <a:p>
            <a:pPr marL="0" indent="0">
              <a:buNone/>
            </a:pPr>
            <a:endParaRPr lang="en-GB" sz="4800" dirty="0"/>
          </a:p>
          <a:p>
            <a:r>
              <a:rPr lang="en-GB" sz="4800" dirty="0"/>
              <a:t>Course objectives</a:t>
            </a:r>
          </a:p>
          <a:p>
            <a:pPr marL="0" indent="0">
              <a:buNone/>
            </a:pPr>
            <a:endParaRPr lang="en-GB" sz="4800" dirty="0"/>
          </a:p>
          <a:p>
            <a:r>
              <a:rPr lang="en-GB" sz="4800" dirty="0"/>
              <a:t>Course dynamics and expectations</a:t>
            </a:r>
          </a:p>
        </p:txBody>
      </p:sp>
    </p:spTree>
    <p:extLst>
      <p:ext uri="{BB962C8B-B14F-4D97-AF65-F5344CB8AC3E}">
        <p14:creationId xmlns:p14="http://schemas.microsoft.com/office/powerpoint/2010/main" val="256199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5A3B-DC3F-E35D-00FD-3FCF55D1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Three</a:t>
            </a:r>
            <a:r>
              <a:rPr lang="es-MX" dirty="0"/>
              <a:t> </a:t>
            </a:r>
            <a:r>
              <a:rPr lang="es-MX" dirty="0" err="1"/>
              <a:t>challenges</a:t>
            </a:r>
            <a:r>
              <a:rPr lang="es-MX" dirty="0"/>
              <a:t> in </a:t>
            </a:r>
            <a:r>
              <a:rPr lang="es-MX" dirty="0" err="1"/>
              <a:t>statistics</a:t>
            </a:r>
            <a:r>
              <a:rPr lang="es-MX" dirty="0"/>
              <a:t> (Gelman et al., 2024):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C961-5F93-49D1-40DA-BAD130B7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Generalise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a </a:t>
            </a:r>
            <a:r>
              <a:rPr lang="es-MX" dirty="0" err="1"/>
              <a:t>sample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population</a:t>
            </a:r>
            <a:r>
              <a:rPr lang="es-MX" dirty="0"/>
              <a:t>: </a:t>
            </a:r>
            <a:r>
              <a:rPr lang="es-MX" dirty="0" err="1"/>
              <a:t>survey</a:t>
            </a:r>
            <a:r>
              <a:rPr lang="es-MX" dirty="0"/>
              <a:t> data and </a:t>
            </a:r>
            <a:r>
              <a:rPr lang="es-MX" dirty="0" err="1"/>
              <a:t>sampling</a:t>
            </a:r>
            <a:endParaRPr lang="es-MX" dirty="0"/>
          </a:p>
          <a:p>
            <a:endParaRPr lang="es-MX" dirty="0"/>
          </a:p>
          <a:p>
            <a:r>
              <a:rPr lang="es-MX" dirty="0" err="1"/>
              <a:t>Generalise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a series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indicators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a </a:t>
            </a:r>
            <a:r>
              <a:rPr lang="es-MX" dirty="0" err="1"/>
              <a:t>construct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interest</a:t>
            </a:r>
            <a:r>
              <a:rPr lang="es-MX" dirty="0"/>
              <a:t>: </a:t>
            </a:r>
            <a:r>
              <a:rPr lang="es-MX" dirty="0" err="1"/>
              <a:t>measurement</a:t>
            </a:r>
            <a:endParaRPr lang="es-MX" dirty="0"/>
          </a:p>
          <a:p>
            <a:endParaRPr lang="es-MX" dirty="0"/>
          </a:p>
          <a:p>
            <a:r>
              <a:rPr lang="es-MX" dirty="0" err="1"/>
              <a:t>Generalise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a </a:t>
            </a:r>
            <a:r>
              <a:rPr lang="es-MX" dirty="0" err="1"/>
              <a:t>treatment</a:t>
            </a:r>
            <a:r>
              <a:rPr lang="es-MX" dirty="0"/>
              <a:t> </a:t>
            </a:r>
            <a:r>
              <a:rPr lang="es-MX" dirty="0" err="1"/>
              <a:t>group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control </a:t>
            </a:r>
            <a:r>
              <a:rPr lang="es-MX" dirty="0" err="1"/>
              <a:t>group</a:t>
            </a:r>
            <a:r>
              <a:rPr lang="es-MX" dirty="0"/>
              <a:t>: causal </a:t>
            </a:r>
            <a:r>
              <a:rPr lang="es-MX" dirty="0" err="1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74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3DD9-1641-4AD0-34FB-75F7615D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this type of course?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6CCDF-F495-31F3-1BFD-7A8CE2E3D9CC}"/>
              </a:ext>
            </a:extLst>
          </p:cNvPr>
          <p:cNvSpPr txBox="1"/>
          <p:nvPr/>
        </p:nvSpPr>
        <p:spPr>
          <a:xfrm>
            <a:off x="838200" y="2393879"/>
            <a:ext cx="44331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challenge in statistics: </a:t>
            </a:r>
          </a:p>
          <a:p>
            <a:endParaRPr lang="en-US" sz="3200" dirty="0"/>
          </a:p>
          <a:p>
            <a:r>
              <a:rPr lang="en-US" sz="3200" dirty="0" err="1"/>
              <a:t>Generalise</a:t>
            </a:r>
            <a:r>
              <a:rPr lang="en-US" sz="3200" dirty="0"/>
              <a:t> from the sample to the whole population </a:t>
            </a:r>
          </a:p>
        </p:txBody>
      </p:sp>
      <p:pic>
        <p:nvPicPr>
          <p:cNvPr id="1028" name="Picture 4" descr="Population &amp; Samples in Statistics: Examples - Analytics Yogi">
            <a:extLst>
              <a:ext uri="{FF2B5EF4-FFF2-40B4-BE49-F238E27FC236}">
                <a16:creationId xmlns:a16="http://schemas.microsoft.com/office/drawing/2014/main" id="{6AB7DB8D-B890-A92E-78FE-5D5AFA688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621" y="1690688"/>
            <a:ext cx="5211930" cy="438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13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0EBB-EF01-0A3D-23CD-C11D7EBC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DF5A-BE22-039E-E0F4-2889B682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type of course?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600E9-5C28-0A19-3D60-77BDBB4AECFC}"/>
              </a:ext>
            </a:extLst>
          </p:cNvPr>
          <p:cNvSpPr txBox="1"/>
          <p:nvPr/>
        </p:nvSpPr>
        <p:spPr>
          <a:xfrm>
            <a:off x="359596" y="1660783"/>
            <a:ext cx="45103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advantages of survey data: 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Cost-effective: No need to collect data from the full population 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Specific inference: Increase thematic coverage of the questionnaire </a:t>
            </a:r>
            <a:endParaRPr lang="en-GB" sz="2800" dirty="0"/>
          </a:p>
        </p:txBody>
      </p:sp>
      <p:pic>
        <p:nvPicPr>
          <p:cNvPr id="2052" name="Picture 4" descr="Population Growth Charts">
            <a:extLst>
              <a:ext uri="{FF2B5EF4-FFF2-40B4-BE49-F238E27FC236}">
                <a16:creationId xmlns:a16="http://schemas.microsoft.com/office/drawing/2014/main" id="{C51C2496-199A-91E4-6A26-89BC58443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06"/>
          <a:stretch>
            <a:fillRect/>
          </a:stretch>
        </p:blipFill>
        <p:spPr bwMode="auto">
          <a:xfrm>
            <a:off x="5016209" y="1844991"/>
            <a:ext cx="6915263" cy="359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82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37EC-A88F-1195-630D-C9BDB59A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C743-8E37-FE03-2ABD-19AE05D01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Survey data limitations: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Sometimes the sample is not enough (Can’t </a:t>
            </a:r>
            <a:r>
              <a:rPr lang="en-US" dirty="0" err="1"/>
              <a:t>generalise</a:t>
            </a:r>
            <a:r>
              <a:rPr lang="en-US" dirty="0"/>
              <a:t> with confidence)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Sometimes the sample is wrong</a:t>
            </a:r>
            <a:endParaRPr lang="en-GB" dirty="0"/>
          </a:p>
        </p:txBody>
      </p:sp>
      <p:pic>
        <p:nvPicPr>
          <p:cNvPr id="3078" name="Picture 6" descr="Measures Matter: How Bias Gets 'Baked Into' Research Results - Center for Creative Leadership ...">
            <a:extLst>
              <a:ext uri="{FF2B5EF4-FFF2-40B4-BE49-F238E27FC236}">
                <a16:creationId xmlns:a16="http://schemas.microsoft.com/office/drawing/2014/main" id="{49B246B8-212B-7BDE-2E0E-8B2A54694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284" y="2152507"/>
            <a:ext cx="5354988" cy="300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64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AB29-ACC7-4D22-51BC-3B156E01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0C2B-8B2A-379D-644B-8C7797A0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39F4-DB25-2B59-79B7-0DE80FF66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Survey </a:t>
            </a:r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It’s inevitable (sampling, collection, response, coding, etc.)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It’s unwanted </a:t>
            </a:r>
            <a:r>
              <a:rPr lang="en-GB" dirty="0">
                <a:solidFill>
                  <a:srgbClr val="FF0000"/>
                </a:solidFill>
              </a:rPr>
              <a:t>random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systematic</a:t>
            </a:r>
            <a:r>
              <a:rPr lang="en-GB" dirty="0"/>
              <a:t> variability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But… it’s </a:t>
            </a:r>
            <a:r>
              <a:rPr lang="en-GB" u="sng" dirty="0"/>
              <a:t>measurable </a:t>
            </a:r>
            <a:r>
              <a:rPr lang="en-GB" dirty="0"/>
              <a:t>and, sometimes, </a:t>
            </a:r>
            <a:r>
              <a:rPr lang="en-GB" u="sng" dirty="0"/>
              <a:t>amendable</a:t>
            </a:r>
            <a:r>
              <a:rPr lang="en-GB" dirty="0"/>
              <a:t>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238FFA-50D0-1E1D-93CC-575D614121CD}"/>
              </a:ext>
            </a:extLst>
          </p:cNvPr>
          <p:cNvCxnSpPr>
            <a:cxnSpLocks/>
          </p:cNvCxnSpPr>
          <p:nvPr/>
        </p:nvCxnSpPr>
        <p:spPr>
          <a:xfrm flipH="1" flipV="1">
            <a:off x="6850081" y="1558542"/>
            <a:ext cx="76276" cy="4261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773E3C-EF7D-285A-7ED8-55C3CC9A97DF}"/>
              </a:ext>
            </a:extLst>
          </p:cNvPr>
          <p:cNvCxnSpPr>
            <a:cxnSpLocks/>
          </p:cNvCxnSpPr>
          <p:nvPr/>
        </p:nvCxnSpPr>
        <p:spPr>
          <a:xfrm>
            <a:off x="6667073" y="5690171"/>
            <a:ext cx="5333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19B63D7-F45D-73DF-A191-FDDD1E26D670}"/>
              </a:ext>
            </a:extLst>
          </p:cNvPr>
          <p:cNvSpPr/>
          <p:nvPr/>
        </p:nvSpPr>
        <p:spPr>
          <a:xfrm>
            <a:off x="7346023" y="3328827"/>
            <a:ext cx="308225" cy="3595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A7B5A2-DCBD-94B8-8793-514EAE28B764}"/>
              </a:ext>
            </a:extLst>
          </p:cNvPr>
          <p:cNvGrpSpPr/>
          <p:nvPr/>
        </p:nvGrpSpPr>
        <p:grpSpPr>
          <a:xfrm>
            <a:off x="8437011" y="3308640"/>
            <a:ext cx="308225" cy="565077"/>
            <a:chOff x="9293403" y="2892803"/>
            <a:chExt cx="308225" cy="78769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16EC614-CF26-1491-D121-35C53363804A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A9D5000-8F43-F30C-EAE7-D165211229D9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892803"/>
              <a:ext cx="0" cy="78769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6A58BAE-67AD-320E-CDBE-3D11FBEF7CC2}"/>
              </a:ext>
            </a:extLst>
          </p:cNvPr>
          <p:cNvSpPr txBox="1"/>
          <p:nvPr/>
        </p:nvSpPr>
        <p:spPr>
          <a:xfrm>
            <a:off x="6989637" y="2688915"/>
            <a:ext cx="108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% children</a:t>
            </a:r>
            <a:endParaRPr lang="en-GB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73EFB-CAE5-ACEB-1D7F-66FADEF0CBE5}"/>
              </a:ext>
            </a:extLst>
          </p:cNvPr>
          <p:cNvSpPr txBox="1"/>
          <p:nvPr/>
        </p:nvSpPr>
        <p:spPr>
          <a:xfrm>
            <a:off x="8334696" y="4090371"/>
            <a:ext cx="10899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Ideal survey estimate</a:t>
            </a:r>
            <a:endParaRPr lang="en-GB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D4F63FF-F5B4-8E8A-6893-8314879BA4F8}"/>
              </a:ext>
            </a:extLst>
          </p:cNvPr>
          <p:cNvGrpSpPr/>
          <p:nvPr/>
        </p:nvGrpSpPr>
        <p:grpSpPr>
          <a:xfrm>
            <a:off x="9766441" y="2948929"/>
            <a:ext cx="308225" cy="1165625"/>
            <a:chOff x="9293403" y="2434971"/>
            <a:chExt cx="308225" cy="152883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BEE8FC5-23D9-7B98-227C-D85B0EDBBD0E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842DC3-43E7-7073-502E-FB1A5CA94CA3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434971"/>
              <a:ext cx="0" cy="15288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F8A8E11-0624-3DA8-54D5-F813268C2B71}"/>
              </a:ext>
            </a:extLst>
          </p:cNvPr>
          <p:cNvSpPr txBox="1"/>
          <p:nvPr/>
        </p:nvSpPr>
        <p:spPr>
          <a:xfrm>
            <a:off x="9444731" y="4125851"/>
            <a:ext cx="1259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Unreliable survey estimate</a:t>
            </a:r>
            <a:endParaRPr lang="en-GB" sz="1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05B9088-1AB0-B304-1667-407705B17F49}"/>
              </a:ext>
            </a:extLst>
          </p:cNvPr>
          <p:cNvGrpSpPr/>
          <p:nvPr/>
        </p:nvGrpSpPr>
        <p:grpSpPr>
          <a:xfrm>
            <a:off x="10908154" y="2278800"/>
            <a:ext cx="308225" cy="1165625"/>
            <a:chOff x="9293403" y="2434971"/>
            <a:chExt cx="308225" cy="15288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D780F3-B1DE-BBD2-3503-6F2DEFD5FB55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1035FD-D5A7-1C16-0311-FC7E6A1404C9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434971"/>
              <a:ext cx="0" cy="15288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513E906-3354-E48E-6FBC-D3ACA8CFC3F5}"/>
              </a:ext>
            </a:extLst>
          </p:cNvPr>
          <p:cNvSpPr txBox="1"/>
          <p:nvPr/>
        </p:nvSpPr>
        <p:spPr>
          <a:xfrm>
            <a:off x="10586444" y="3455722"/>
            <a:ext cx="1259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Unreliable and biased survey estimate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4104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/>
      <p:bldP spid="25" grpId="0"/>
      <p:bldP spid="31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7FEB-2851-5B8E-57CB-909CEA10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644E-7007-9634-72B8-75F91569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2939-B941-B080-66AB-451AAD222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would be great to have some workflow and methods to solve this problems: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Know the reliability</a:t>
            </a:r>
          </a:p>
          <a:p>
            <a:pPr marL="514350" indent="-514350">
              <a:buAutoNum type="arabicPeriod"/>
            </a:pPr>
            <a:r>
              <a:rPr lang="en-US" dirty="0"/>
              <a:t>Correct the reliability 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529F5B-7A26-6AE4-3399-0741D581679E}"/>
              </a:ext>
            </a:extLst>
          </p:cNvPr>
          <p:cNvCxnSpPr>
            <a:cxnSpLocks/>
          </p:cNvCxnSpPr>
          <p:nvPr/>
        </p:nvCxnSpPr>
        <p:spPr>
          <a:xfrm flipH="1" flipV="1">
            <a:off x="6813755" y="1541206"/>
            <a:ext cx="90480" cy="4284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0774A8-EE67-4532-F5EE-578FE1F526A0}"/>
              </a:ext>
            </a:extLst>
          </p:cNvPr>
          <p:cNvCxnSpPr>
            <a:cxnSpLocks/>
          </p:cNvCxnSpPr>
          <p:nvPr/>
        </p:nvCxnSpPr>
        <p:spPr>
          <a:xfrm>
            <a:off x="6667073" y="5690171"/>
            <a:ext cx="5333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AD01FE7-93F8-0446-2111-DE65BEED6453}"/>
              </a:ext>
            </a:extLst>
          </p:cNvPr>
          <p:cNvSpPr/>
          <p:nvPr/>
        </p:nvSpPr>
        <p:spPr>
          <a:xfrm>
            <a:off x="7346023" y="3328827"/>
            <a:ext cx="308225" cy="3595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19BC3-6C68-FBDD-280E-6890F302B22E}"/>
              </a:ext>
            </a:extLst>
          </p:cNvPr>
          <p:cNvSpPr txBox="1"/>
          <p:nvPr/>
        </p:nvSpPr>
        <p:spPr>
          <a:xfrm>
            <a:off x="6949396" y="2687319"/>
            <a:ext cx="108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% children</a:t>
            </a:r>
            <a:endParaRPr lang="en-GB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45D05C-F7CD-7F75-C4FB-D0B7D34CCAB1}"/>
              </a:ext>
            </a:extLst>
          </p:cNvPr>
          <p:cNvGrpSpPr/>
          <p:nvPr/>
        </p:nvGrpSpPr>
        <p:grpSpPr>
          <a:xfrm>
            <a:off x="9766441" y="2948929"/>
            <a:ext cx="308225" cy="1165625"/>
            <a:chOff x="9293403" y="2434971"/>
            <a:chExt cx="308225" cy="152883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669B22-4343-5D74-23E6-C1B6BD0BD90E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004E62-A5BD-3A11-49DC-20C2A54A7E4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434971"/>
              <a:ext cx="0" cy="15288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B51A172-C89E-755D-91A0-08EB11736695}"/>
              </a:ext>
            </a:extLst>
          </p:cNvPr>
          <p:cNvSpPr txBox="1"/>
          <p:nvPr/>
        </p:nvSpPr>
        <p:spPr>
          <a:xfrm>
            <a:off x="9444731" y="4125851"/>
            <a:ext cx="1259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Unreliable survey estimate</a:t>
            </a:r>
            <a:endParaRPr lang="en-GB" sz="1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1121E5-6C43-224F-7CAB-DE9E013BC5D6}"/>
              </a:ext>
            </a:extLst>
          </p:cNvPr>
          <p:cNvGrpSpPr/>
          <p:nvPr/>
        </p:nvGrpSpPr>
        <p:grpSpPr>
          <a:xfrm>
            <a:off x="11104009" y="3210541"/>
            <a:ext cx="308225" cy="693640"/>
            <a:chOff x="9293403" y="2778099"/>
            <a:chExt cx="308225" cy="90977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7C36858-7FD0-600D-A863-E9A64F773B32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5669824-ECBC-36A5-406B-BBB3A0239A5E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778099"/>
              <a:ext cx="0" cy="9097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DA57529-5DF3-9FD3-7949-FF673C8167EC}"/>
              </a:ext>
            </a:extLst>
          </p:cNvPr>
          <p:cNvSpPr txBox="1"/>
          <p:nvPr/>
        </p:nvSpPr>
        <p:spPr>
          <a:xfrm>
            <a:off x="10782299" y="4125851"/>
            <a:ext cx="1259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Reliable survey estimate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7546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/>
      <p:bldP spid="31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9660-76FD-B54D-CE03-C0F22C3D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0331-3DCF-3AA8-9D87-4D29D46A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7DD69-BEC7-22E8-20DD-2FFF7D7F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would be great to have some workflow and methods to solve this problems: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Know the bias</a:t>
            </a:r>
          </a:p>
          <a:p>
            <a:pPr marL="514350" indent="-514350">
              <a:buAutoNum type="arabicPeriod"/>
            </a:pPr>
            <a:r>
              <a:rPr lang="en-US" dirty="0"/>
              <a:t>Correct the bias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AD4F05-B61B-73C6-A20E-88DF56741623}"/>
              </a:ext>
            </a:extLst>
          </p:cNvPr>
          <p:cNvCxnSpPr>
            <a:cxnSpLocks/>
          </p:cNvCxnSpPr>
          <p:nvPr/>
        </p:nvCxnSpPr>
        <p:spPr>
          <a:xfrm flipH="1" flipV="1">
            <a:off x="6821129" y="1548581"/>
            <a:ext cx="83106" cy="4276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1DDDC8-6E6C-263D-CA24-6B0F8A17B5C7}"/>
              </a:ext>
            </a:extLst>
          </p:cNvPr>
          <p:cNvCxnSpPr>
            <a:cxnSpLocks/>
          </p:cNvCxnSpPr>
          <p:nvPr/>
        </p:nvCxnSpPr>
        <p:spPr>
          <a:xfrm>
            <a:off x="6667073" y="5690171"/>
            <a:ext cx="5333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1DCBC82-5523-9AE6-7D3D-B99592E5220E}"/>
              </a:ext>
            </a:extLst>
          </p:cNvPr>
          <p:cNvSpPr/>
          <p:nvPr/>
        </p:nvSpPr>
        <p:spPr>
          <a:xfrm>
            <a:off x="7346023" y="3328827"/>
            <a:ext cx="308225" cy="3595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C6B89D-9868-EE88-A84D-DE12A8C4077C}"/>
              </a:ext>
            </a:extLst>
          </p:cNvPr>
          <p:cNvSpPr txBox="1"/>
          <p:nvPr/>
        </p:nvSpPr>
        <p:spPr>
          <a:xfrm>
            <a:off x="6949396" y="2687319"/>
            <a:ext cx="108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% children</a:t>
            </a:r>
            <a:endParaRPr lang="en-GB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60D1F5-3F7E-4D60-FAE6-2145A23CA8B7}"/>
              </a:ext>
            </a:extLst>
          </p:cNvPr>
          <p:cNvGrpSpPr/>
          <p:nvPr/>
        </p:nvGrpSpPr>
        <p:grpSpPr>
          <a:xfrm>
            <a:off x="9573158" y="2044914"/>
            <a:ext cx="308225" cy="1165625"/>
            <a:chOff x="9293403" y="2434971"/>
            <a:chExt cx="308225" cy="152883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54DD534-CEB1-DDFF-32A6-330D6F582D44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05CA4A-C5E4-7742-9225-A651DC5F7F82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434971"/>
              <a:ext cx="0" cy="15288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2C025CD-AF61-2053-5375-1EFEBFB3F5E8}"/>
              </a:ext>
            </a:extLst>
          </p:cNvPr>
          <p:cNvSpPr txBox="1"/>
          <p:nvPr/>
        </p:nvSpPr>
        <p:spPr>
          <a:xfrm>
            <a:off x="9251448" y="3221836"/>
            <a:ext cx="1259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Unreliable and biased survey estimate</a:t>
            </a:r>
            <a:endParaRPr lang="en-GB" sz="1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224B05-ED18-1A30-2491-EB2B2DE48270}"/>
              </a:ext>
            </a:extLst>
          </p:cNvPr>
          <p:cNvGrpSpPr/>
          <p:nvPr/>
        </p:nvGrpSpPr>
        <p:grpSpPr>
          <a:xfrm>
            <a:off x="11104009" y="3210541"/>
            <a:ext cx="308225" cy="693640"/>
            <a:chOff x="9293403" y="2778099"/>
            <a:chExt cx="308225" cy="90977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E0F0E8-F3B5-13A8-CAA1-53CF05481528}"/>
                </a:ext>
              </a:extLst>
            </p:cNvPr>
            <p:cNvSpPr/>
            <p:nvPr/>
          </p:nvSpPr>
          <p:spPr>
            <a:xfrm>
              <a:off x="9293403" y="3099681"/>
              <a:ext cx="308225" cy="35958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BA3A36-A77F-00DC-C767-DBA83DE129DA}"/>
                </a:ext>
              </a:extLst>
            </p:cNvPr>
            <p:cNvCxnSpPr>
              <a:cxnSpLocks/>
            </p:cNvCxnSpPr>
            <p:nvPr/>
          </p:nvCxnSpPr>
          <p:spPr>
            <a:xfrm>
              <a:off x="9447515" y="2778099"/>
              <a:ext cx="0" cy="9097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51A5841-87F2-D3B8-B5F4-3093DE8F9923}"/>
              </a:ext>
            </a:extLst>
          </p:cNvPr>
          <p:cNvSpPr txBox="1"/>
          <p:nvPr/>
        </p:nvSpPr>
        <p:spPr>
          <a:xfrm>
            <a:off x="10782299" y="4125851"/>
            <a:ext cx="1259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Reliable and unbiased survey estimate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9176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/>
      <p:bldP spid="31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2E46-4122-F4DB-FCDC-4C7AF557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17F6-61EC-68F0-B044-CF19D266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689225"/>
            <a:ext cx="3724275" cy="1325563"/>
          </a:xfrm>
        </p:spPr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7EF4B5B-B706-A731-200B-EC1D1D105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87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7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83E5-F4A8-5C32-1919-558281D0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C995-7FB0-BF3B-1497-4A6499EF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689225"/>
            <a:ext cx="3724275" cy="1325563"/>
          </a:xfrm>
        </p:spPr>
        <p:txBody>
          <a:bodyPr/>
          <a:lstStyle/>
          <a:p>
            <a:r>
              <a:rPr lang="en-GB" b="1" dirty="0"/>
              <a:t>Why this type of course?</a:t>
            </a:r>
            <a:endParaRPr lang="en-GB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7F6904-349E-B1B6-250A-E594BBB55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5" y="847719"/>
            <a:ext cx="9144019" cy="5486411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F5F1A9BA-6787-E749-5666-F68A0FC43606}"/>
              </a:ext>
            </a:extLst>
          </p:cNvPr>
          <p:cNvSpPr/>
          <p:nvPr/>
        </p:nvSpPr>
        <p:spPr>
          <a:xfrm>
            <a:off x="10582275" y="2343150"/>
            <a:ext cx="1457325" cy="152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0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0D5E0AE-C3EA-0BEE-7293-76B8221D1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151" y="1238247"/>
            <a:ext cx="8763010" cy="438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9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0BB8-7BAC-846C-F332-33EC0DCE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57856" cy="1325563"/>
          </a:xfrm>
        </p:spPr>
        <p:txBody>
          <a:bodyPr/>
          <a:lstStyle/>
          <a:p>
            <a:r>
              <a:rPr lang="en-US" dirty="0"/>
              <a:t>Models</a:t>
            </a:r>
            <a:endParaRPr lang="en-GB" dirty="0"/>
          </a:p>
        </p:txBody>
      </p:sp>
      <p:pic>
        <p:nvPicPr>
          <p:cNvPr id="6146" name="Picture 2" descr="Der Golem Foto &amp; Bild | europe, czech republic, prag Bilder auf fotocommunity">
            <a:extLst>
              <a:ext uri="{FF2B5EF4-FFF2-40B4-BE49-F238E27FC236}">
                <a16:creationId xmlns:a16="http://schemas.microsoft.com/office/drawing/2014/main" id="{52E5F841-F0FC-4F71-371B-A9E1A1745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56" y="933450"/>
            <a:ext cx="8205393" cy="543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D46615-C754-36A6-7FD4-F2A4905E06B2}"/>
              </a:ext>
            </a:extLst>
          </p:cNvPr>
          <p:cNvSpPr txBox="1"/>
          <p:nvPr/>
        </p:nvSpPr>
        <p:spPr>
          <a:xfrm>
            <a:off x="590551" y="2552561"/>
            <a:ext cx="20669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inherently good or bad</a:t>
            </a:r>
          </a:p>
          <a:p>
            <a:endParaRPr lang="en-US" dirty="0"/>
          </a:p>
          <a:p>
            <a:r>
              <a:rPr lang="en-US" dirty="0"/>
              <a:t>They just follow instructions</a:t>
            </a:r>
          </a:p>
          <a:p>
            <a:endParaRPr lang="en-US" dirty="0"/>
          </a:p>
          <a:p>
            <a:r>
              <a:rPr lang="en-US" dirty="0"/>
              <a:t>We don’t want to destroy a city using them wrongly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662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1029-98E6-18B6-7626-0E80531A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6F7E1-BFF9-DC5A-3256-7B7CEFDB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1. Producing basic descriptive analyses using survey data and embrace </a:t>
            </a:r>
            <a:r>
              <a:rPr lang="en-GB" i="1" dirty="0"/>
              <a:t>uncertainty</a:t>
            </a:r>
            <a:r>
              <a:rPr lang="en-GB" dirty="0"/>
              <a:t> in statistics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2. Understanding the basic principles involved in direct and indirect estimation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3. Understanding the role that predictive models have to produce in-sample and out-of-sample statistics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4. Mapping variables of interest</a:t>
            </a:r>
          </a:p>
        </p:txBody>
      </p:sp>
    </p:spTree>
    <p:extLst>
      <p:ext uri="{BB962C8B-B14F-4D97-AF65-F5344CB8AC3E}">
        <p14:creationId xmlns:p14="http://schemas.microsoft.com/office/powerpoint/2010/main" val="369071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5C76-0203-E092-3CFD-1B4036B9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dynamics and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9104-6BB8-766B-B17D-67EE944C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71850" cy="4351338"/>
          </a:xfrm>
        </p:spPr>
        <p:txBody>
          <a:bodyPr/>
          <a:lstStyle/>
          <a:p>
            <a:r>
              <a:rPr lang="en-US" dirty="0"/>
              <a:t>Theory/concepts</a:t>
            </a:r>
          </a:p>
          <a:p>
            <a:pPr lvl="1"/>
            <a:r>
              <a:rPr lang="en-US" dirty="0"/>
              <a:t>Why and what</a:t>
            </a:r>
          </a:p>
          <a:p>
            <a:pPr lvl="1"/>
            <a:endParaRPr lang="en-US" dirty="0"/>
          </a:p>
          <a:p>
            <a:r>
              <a:rPr lang="en-US" dirty="0"/>
              <a:t>Practice</a:t>
            </a:r>
          </a:p>
          <a:p>
            <a:pPr lvl="1"/>
            <a:r>
              <a:rPr lang="en-US" dirty="0"/>
              <a:t>How </a:t>
            </a:r>
          </a:p>
          <a:p>
            <a:endParaRPr lang="en-GB" dirty="0"/>
          </a:p>
        </p:txBody>
      </p:sp>
      <p:pic>
        <p:nvPicPr>
          <p:cNvPr id="4100" name="Picture 4" descr="Groupthink - Sketchplanations">
            <a:extLst>
              <a:ext uri="{FF2B5EF4-FFF2-40B4-BE49-F238E27FC236}">
                <a16:creationId xmlns:a16="http://schemas.microsoft.com/office/drawing/2014/main" id="{27E53CA0-644C-586B-E14B-BB14DD6B6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148" y="1292224"/>
            <a:ext cx="5200651" cy="520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64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C2F5-644D-5C63-EB30-9B8B18E7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 </a:t>
            </a:r>
            <a:endParaRPr lang="en-GB" dirty="0"/>
          </a:p>
        </p:txBody>
      </p:sp>
      <p:pic>
        <p:nvPicPr>
          <p:cNvPr id="5124" name="Picture 4" descr="[Video]This mindset will decrease your lazyness by 100% 💪 : r/GetMotivated">
            <a:extLst>
              <a:ext uri="{FF2B5EF4-FFF2-40B4-BE49-F238E27FC236}">
                <a16:creationId xmlns:a16="http://schemas.microsoft.com/office/drawing/2014/main" id="{76236CDF-D1FD-4208-B267-6DBE93F99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396875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52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86EA-CA6B-EE2A-6C20-48AB6062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Do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remember</a:t>
            </a:r>
            <a:r>
              <a:rPr lang="es-MX" dirty="0"/>
              <a:t> R-software?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3728-C6C2-DF1E-288B-C4385893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Yes, </a:t>
            </a:r>
            <a:r>
              <a:rPr lang="es-MX" dirty="0" err="1"/>
              <a:t>something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 R and </a:t>
            </a:r>
            <a:r>
              <a:rPr lang="es-MX" dirty="0" err="1"/>
              <a:t>Rstudio</a:t>
            </a:r>
            <a:endParaRPr lang="es-MX" dirty="0"/>
          </a:p>
          <a:p>
            <a:r>
              <a:rPr lang="es-MX" dirty="0"/>
              <a:t>Yes, I </a:t>
            </a:r>
            <a:r>
              <a:rPr lang="es-MX" dirty="0" err="1"/>
              <a:t>remember</a:t>
            </a:r>
            <a:r>
              <a:rPr lang="es-MX" dirty="0"/>
              <a:t> </a:t>
            </a:r>
            <a:r>
              <a:rPr lang="es-MX" dirty="0" err="1"/>
              <a:t>that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was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 </a:t>
            </a:r>
            <a:r>
              <a:rPr lang="es-MX" dirty="0" err="1"/>
              <a:t>working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objects</a:t>
            </a:r>
            <a:r>
              <a:rPr lang="es-MX" dirty="0"/>
              <a:t> </a:t>
            </a:r>
          </a:p>
          <a:p>
            <a:r>
              <a:rPr lang="es-MX" dirty="0"/>
              <a:t>Yes, I </a:t>
            </a:r>
            <a:r>
              <a:rPr lang="es-MX" dirty="0" err="1"/>
              <a:t>remember</a:t>
            </a:r>
            <a:r>
              <a:rPr lang="es-MX" dirty="0"/>
              <a:t> </a:t>
            </a:r>
            <a:r>
              <a:rPr lang="es-MX" dirty="0" err="1"/>
              <a:t>that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a bit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useful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reproducible </a:t>
            </a:r>
            <a:r>
              <a:rPr lang="es-MX" dirty="0" err="1"/>
              <a:t>research</a:t>
            </a:r>
            <a:endParaRPr lang="es-MX" dirty="0"/>
          </a:p>
          <a:p>
            <a:r>
              <a:rPr lang="es-MX" dirty="0"/>
              <a:t>Yes, I </a:t>
            </a:r>
            <a:r>
              <a:rPr lang="es-MX" dirty="0" err="1"/>
              <a:t>remember</a:t>
            </a:r>
            <a:r>
              <a:rPr lang="es-MX" dirty="0"/>
              <a:t> </a:t>
            </a:r>
            <a:r>
              <a:rPr lang="es-MX" dirty="0" err="1"/>
              <a:t>we</a:t>
            </a:r>
            <a:r>
              <a:rPr lang="es-MX" dirty="0"/>
              <a:t> use </a:t>
            </a:r>
            <a:r>
              <a:rPr lang="es-MX" dirty="0" err="1"/>
              <a:t>Rmarkdown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generate</a:t>
            </a:r>
            <a:r>
              <a:rPr lang="es-MX" dirty="0"/>
              <a:t> </a:t>
            </a:r>
            <a:r>
              <a:rPr lang="es-MX" dirty="0" err="1"/>
              <a:t>pretty</a:t>
            </a:r>
            <a:r>
              <a:rPr lang="es-MX" dirty="0"/>
              <a:t> </a:t>
            </a:r>
            <a:r>
              <a:rPr lang="es-MX" dirty="0" err="1"/>
              <a:t>documents</a:t>
            </a:r>
            <a:endParaRPr lang="es-MX" dirty="0"/>
          </a:p>
          <a:p>
            <a:r>
              <a:rPr lang="es-MX" dirty="0"/>
              <a:t>Yes, I </a:t>
            </a:r>
            <a:r>
              <a:rPr lang="es-MX" dirty="0" err="1"/>
              <a:t>remember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compute </a:t>
            </a:r>
            <a:r>
              <a:rPr lang="es-MX" dirty="0" err="1"/>
              <a:t>basic</a:t>
            </a:r>
            <a:r>
              <a:rPr lang="es-MX" dirty="0"/>
              <a:t> descriptives</a:t>
            </a:r>
          </a:p>
          <a:p>
            <a:r>
              <a:rPr lang="es-MX" dirty="0"/>
              <a:t>Yes, I </a:t>
            </a:r>
            <a:r>
              <a:rPr lang="es-MX" dirty="0" err="1"/>
              <a:t>still</a:t>
            </a:r>
            <a:r>
              <a:rPr lang="es-MX" dirty="0"/>
              <a:t> </a:t>
            </a:r>
          </a:p>
          <a:p>
            <a:r>
              <a:rPr lang="es-MX" dirty="0"/>
              <a:t>No,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really</a:t>
            </a:r>
            <a:r>
              <a:rPr lang="es-MX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5830-33A0-97F3-2778-58A6143C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3BC6-9208-EE4A-558D-41BF883C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https://github.com/hectornajera83/KNSOSurveyData2025/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106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449</Words>
  <Application>Microsoft Office PowerPoint</Application>
  <PresentationFormat>Widescreen</PresentationFormat>
  <Paragraphs>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Session 1.1:  Welcome and Introduction</vt:lpstr>
      <vt:lpstr>Survey data and indirect estimation</vt:lpstr>
      <vt:lpstr>Three challenges in statistics (Gelman et al., 2024):</vt:lpstr>
      <vt:lpstr>Why this type of course?</vt:lpstr>
      <vt:lpstr>Why this type of course?</vt:lpstr>
      <vt:lpstr>Why this type of course?</vt:lpstr>
      <vt:lpstr>Why this type of course?</vt:lpstr>
      <vt:lpstr>Why this type of course?</vt:lpstr>
      <vt:lpstr>Why this type of course?</vt:lpstr>
      <vt:lpstr>Why this type of course?</vt:lpstr>
      <vt:lpstr>Why this type of course?</vt:lpstr>
      <vt:lpstr>PowerPoint Presentation</vt:lpstr>
      <vt:lpstr>Models</vt:lpstr>
      <vt:lpstr>Objectives</vt:lpstr>
      <vt:lpstr>Course dynamics and expectations</vt:lpstr>
      <vt:lpstr>But… </vt:lpstr>
      <vt:lpstr>Do you remember R-software?</vt:lpstr>
      <vt:lpstr>Materials: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PUED1</dc:creator>
  <cp:lastModifiedBy>Hector Najera</cp:lastModifiedBy>
  <cp:revision>3</cp:revision>
  <dcterms:created xsi:type="dcterms:W3CDTF">2025-12-13T02:23:33Z</dcterms:created>
  <dcterms:modified xsi:type="dcterms:W3CDTF">2025-12-16T05:17:31Z</dcterms:modified>
</cp:coreProperties>
</file>